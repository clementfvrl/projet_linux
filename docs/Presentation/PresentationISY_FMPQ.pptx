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4630400" cy="8229600"/>
  <p:notesSz cx="8229600" cy="146304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</p:embeddedFont>
    <p:embeddedFont>
      <p:font typeface="Montserrat Bold" panose="00000800000000000000" pitchFamily="2" charset="0"/>
      <p:bold r:id="rId23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253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9098" y="247066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ISY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049098" y="3269933"/>
            <a:ext cx="76273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Messagerie instantanée en ligne de commande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049098" y="4734997"/>
            <a:ext cx="762738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Présenté par : C. </a:t>
            </a:r>
            <a:r>
              <a:rPr lang="en-US" sz="21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Favarel</a:t>
            </a: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T. Murgia, N. Prudhomme, M. Quivront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049098" y="5412105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 : 17 decembre 2025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8808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chemeClr val="accent1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Contexte et Objectifs</a:t>
            </a:r>
            <a:endParaRPr lang="en-US" sz="44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04847" y="2025637"/>
            <a:ext cx="700847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Développement d'une messagerie instantanée en ligne de commande dans le cadre d'un projet pédagogique sous Linux.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847" y="3192765"/>
            <a:ext cx="700847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Immersion dans la programmation système et la communication réseau.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371" y="4221001"/>
            <a:ext cx="700847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Concevoir un système de messagerie complet, fonctionnel et robuste.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4847" y="5318683"/>
            <a:ext cx="700847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Assurer des échanges sécurisés, entièrement opérables depuis la ligne de commande.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847" y="6416366"/>
            <a:ext cx="700847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Renforcer la maîtrise des outils et concepts fondamentaux de l'environnement Linux.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8295211" cy="82952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17483"/>
            <a:ext cx="634436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chemeClr val="accent1">
                    <a:lumMod val="50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Fonctionnalités Requises</a:t>
            </a:r>
            <a:endParaRPr lang="en-US" sz="44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309" y="1963460"/>
            <a:ext cx="6448544" cy="4511516"/>
          </a:xfrm>
          <a:prstGeom prst="roundRect">
            <a:avLst>
              <a:gd name="adj" fmla="val 7204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789" y="1993940"/>
            <a:ext cx="6387584" cy="649962"/>
          </a:xfrm>
          <a:prstGeom prst="roundRect">
            <a:avLst>
              <a:gd name="adj" fmla="val 44374"/>
            </a:avLst>
          </a:prstGeom>
          <a:solidFill>
            <a:srgbClr val="D4E9F7"/>
          </a:solidFill>
          <a:ln/>
        </p:spPr>
      </p:sp>
      <p:sp>
        <p:nvSpPr>
          <p:cNvPr id="5" name="Text 3"/>
          <p:cNvSpPr/>
          <p:nvPr/>
        </p:nvSpPr>
        <p:spPr>
          <a:xfrm>
            <a:off x="3820120" y="2111931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05364" y="286047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Actions Utilisateur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364" y="3346609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Créer un groupe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364" y="3769043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Lister les groupes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364" y="4191476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Rejoindre un groupe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364" y="4613910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Quitter un groupe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364" y="5036344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Lire les messages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364" y="5458778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Envoyer un message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364" y="5881211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Lister les membres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23428" y="1963460"/>
            <a:ext cx="6448663" cy="4511516"/>
          </a:xfrm>
          <a:prstGeom prst="roundRect">
            <a:avLst>
              <a:gd name="adj" fmla="val 7204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3908" y="1993940"/>
            <a:ext cx="6387703" cy="649962"/>
          </a:xfrm>
          <a:prstGeom prst="roundRect">
            <a:avLst>
              <a:gd name="adj" fmla="val 44374"/>
            </a:avLst>
          </a:prstGeom>
          <a:solidFill>
            <a:srgbClr val="D4E9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485239" y="2111931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670483" y="2860477"/>
            <a:ext cx="295477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Actions Administrateur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70483" y="3346609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Supprimer un groupe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70483" y="3769043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Modérer les membres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70483" y="4191476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Fusionner des groupes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24091" y="7324487"/>
            <a:ext cx="14225286" cy="79515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Ces fonctionnalités ont été définies pour offrir une expérience de messagerie complète tout en respectant les contraintes d'un environnement en ligne de commande.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21807"/>
            <a:ext cx="1141226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chemeClr val="accent1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Fonctionnalité Supplémentaire : Statistiques </a:t>
            </a:r>
            <a:endParaRPr lang="en-US" sz="44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354342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Intégration de compteurs pour les messages envoyés, 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2895957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Cette fonctionnalité aide à identifier les membres les plus actifs et l'engagement au sein des différents groupes de discussion.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139" y="2403158"/>
            <a:ext cx="6292572" cy="3523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309" y="6414373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Cette vue d'ensemble quantitative apporte une dimension analytique précieuse à notre système de messagerie instantanée.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595" y="595193"/>
            <a:ext cx="11282005" cy="711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chemeClr val="accent1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Fonctionnalité Supplémentaire : Chiffrement</a:t>
            </a:r>
            <a:endParaRPr lang="en-US" sz="44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57595" y="1826657"/>
            <a:ext cx="7657862" cy="1038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sécurité des communications est primordiale. Nous avons intégré un mécanisme de chiffrement pour protéger la confidentialité des échanges.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7595" y="3060144"/>
            <a:ext cx="7657862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7595" y="3622834"/>
            <a:ext cx="3417808" cy="42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Chiffrement César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7595" y="4266486"/>
            <a:ext cx="7657862" cy="692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décalage de 3 est appliqué aux messages, offrant une première couche de sécurité contre l'interception non autorisée.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7595" y="5153739"/>
            <a:ext cx="7657862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238" y="1875353"/>
            <a:ext cx="4929188" cy="49291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7595" y="7291507"/>
            <a:ext cx="13115211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Ces éléments combinés garantissent une messagerie à la fois sécurisée et dotée de capacités de gestion sophistiquées.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028" y="472202"/>
            <a:ext cx="4826675" cy="56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chemeClr val="accent1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Cas d'Utilisation Général</a:t>
            </a:r>
            <a:endParaRPr lang="en-US" sz="355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658" y="1380530"/>
            <a:ext cx="8294965" cy="4438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63931" y="1687548"/>
            <a:ext cx="1340423" cy="242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Utilisateur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363931" y="1994941"/>
            <a:ext cx="1340423" cy="36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Créer/Rejoindre/Envoyer/Lire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363931" y="4041462"/>
            <a:ext cx="1340423" cy="48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Authentification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63931" y="4590862"/>
            <a:ext cx="1340423" cy="36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Incluse pour toutes actions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918929" y="4041462"/>
            <a:ext cx="1340423" cy="48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Cas d'utilisation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18929" y="4590862"/>
            <a:ext cx="1340423" cy="551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Actions principales du système ISY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918929" y="1687548"/>
            <a:ext cx="1340423" cy="242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Gestionnaire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918929" y="1994941"/>
            <a:ext cx="1340423" cy="183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Supprimer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918929" y="2244227"/>
            <a:ext cx="1340423" cy="183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Fusionner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918929" y="2493513"/>
            <a:ext cx="1340423" cy="183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1028" y="6012537"/>
            <a:ext cx="1342834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diagramme illustre les interactions principales entre les acteurs (Utilisateur et Gestionnaire) et le système ISY. Chaque flèche représente une action ou un ensemble d'actions possibles.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27322" y="7150649"/>
            <a:ext cx="14459977" cy="1004292"/>
          </a:xfrm>
          <a:prstGeom prst="roundRect">
            <a:avLst>
              <a:gd name="adj" fmla="val 25649"/>
            </a:avLst>
          </a:prstGeom>
          <a:solidFill>
            <a:srgbClr val="BEDFF3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36" y="7468189"/>
            <a:ext cx="214551" cy="1716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1301" y="7365200"/>
            <a:ext cx="13674309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diagramme de cas d'utilisation détaillé a été conçu spécifiquement pour la fonctionnalité "Créer un groupe", mettant en lumière les étapes précises et les préconditions nécessaires.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59" y="1098361"/>
            <a:ext cx="12362881" cy="622139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591" y="292206"/>
            <a:ext cx="4689991" cy="575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Architecture Logicielle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370955" y="4114800"/>
            <a:ext cx="1888487" cy="56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Architecture ISY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743651" y="5091081"/>
            <a:ext cx="2994144" cy="34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GroupeISY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312286" y="5483232"/>
            <a:ext cx="3853917" cy="151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Ecoute sur un </a:t>
            </a: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 UDP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spécifique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Enregistre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les membres,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gère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les commandes et diffuse les messages aux membres.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40017" y="5081983"/>
            <a:ext cx="3027944" cy="342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ClientISY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64197" y="5422739"/>
            <a:ext cx="3831222" cy="1703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interface utilisateur qui se connecte au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serveur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Présente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menu 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texte (créer/list/joindre/fusionner…), lance les dialogues et crée le processus d’affichage.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027305" y="1364962"/>
            <a:ext cx="2873099" cy="34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AffichageISY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597307" y="1765256"/>
            <a:ext cx="3698112" cy="150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processus d’affichage lancé dans un </a:t>
            </a: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xterm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;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 reçoit les messages du groupe, les déchiffre avec l’algorithme de César et les affiche.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92297" y="1395469"/>
            <a:ext cx="4064063" cy="34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ServeurISY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312286" y="1762278"/>
            <a:ext cx="3935392" cy="145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Enregistre les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utilisateurs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gère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l’annuaire des groupes et crée un nouveau processus </a:t>
            </a: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GroupeISY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lorsqu’un groupe est créé.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00942" y="7319754"/>
            <a:ext cx="14249555" cy="84772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schéma suivant illustre les interactions : le serveur central écoute sur un port fixe, les clients lui envoient des requêtes pour créer ou rejoindre un groupe. Chaque groupe est ensuite géré par un processus </a:t>
            </a:r>
            <a:r>
              <a:rPr lang="en-US" sz="13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GroupeISY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avec son propre port UDP, et chaque client ouvre un </a:t>
            </a:r>
            <a:r>
              <a:rPr lang="en-US" sz="13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AffichageISY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recevoir les messages.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948" y="573524"/>
            <a:ext cx="8517612" cy="684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chemeClr val="accent1">
                    <a:lumMod val="50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Structure des Données &amp; Protocole</a:t>
            </a:r>
            <a:endParaRPr lang="en-US" sz="4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27948" y="1777484"/>
            <a:ext cx="3284101" cy="410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Structure MessageISY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27948" y="2421850"/>
            <a:ext cx="6333530" cy="3403878"/>
          </a:xfrm>
          <a:prstGeom prst="roundRect">
            <a:avLst>
              <a:gd name="adj" fmla="val 916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5568" y="2429470"/>
            <a:ext cx="6318290" cy="9303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43570" y="2561868"/>
            <a:ext cx="273950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06466" y="2561868"/>
            <a:ext cx="2739509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 d'ordre (LST, CRG, JNG, ACK, ERR, MSG)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5568" y="3359825"/>
            <a:ext cx="6318290" cy="5975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43570" y="3492222"/>
            <a:ext cx="273950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expediteur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06466" y="3492222"/>
            <a:ext cx="273950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de l'expéditeur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5568" y="3957399"/>
            <a:ext cx="6318290" cy="9303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43570" y="4089797"/>
            <a:ext cx="273950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destinataire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06466" y="4089797"/>
            <a:ext cx="2739509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du groupe ou destinataire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5568" y="4887754"/>
            <a:ext cx="6318290" cy="9303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43570" y="5020151"/>
            <a:ext cx="273950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06466" y="5020151"/>
            <a:ext cx="2739509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Contenu du message ou données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7948" y="6059686"/>
            <a:ext cx="6333530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Cette structure uniforme permet un traitement cohérent des informations, qu'il s'agisse de commandes ou de messages textuels.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76542" y="1777484"/>
            <a:ext cx="3284101" cy="410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Ordres du Protocole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7576542" y="2395776"/>
            <a:ext cx="6333530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LST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 Lister les groupes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76542" y="2801303"/>
            <a:ext cx="6333530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CRG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 Créer un groupe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76542" y="3206829"/>
            <a:ext cx="6333530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JNG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 Rejoindre un groupe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76542" y="3612356"/>
            <a:ext cx="6333530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ACK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 Accusé de réception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76542" y="4017883"/>
            <a:ext cx="6333530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 Message d'erreur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76542" y="4423410"/>
            <a:ext cx="6333530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MSG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 Message texte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76542" y="4990148"/>
            <a:ext cx="6333530" cy="2431971"/>
          </a:xfrm>
          <a:prstGeom prst="roundRect">
            <a:avLst>
              <a:gd name="adj" fmla="val 12829"/>
            </a:avLst>
          </a:prstGeom>
          <a:solidFill>
            <a:srgbClr val="BEDFF3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425" y="5284827"/>
            <a:ext cx="342067" cy="27360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334375" y="5249942"/>
            <a:ext cx="3056811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Structure GroupeServeur</a:t>
            </a:r>
            <a:endParaRPr lang="en-US" sz="2150" dirty="0"/>
          </a:p>
        </p:txBody>
      </p:sp>
      <p:sp>
        <p:nvSpPr>
          <p:cNvPr id="28" name="Text 25"/>
          <p:cNvSpPr/>
          <p:nvPr/>
        </p:nvSpPr>
        <p:spPr>
          <a:xfrm>
            <a:off x="8334375" y="5799892"/>
            <a:ext cx="5367814" cy="1331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groupe côté serveur maintient une liste de membres actifs, l'historique des messages, et les paramètres spécifiques du groupe (nom, administrateur).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r="18414"/>
          <a:stretch>
            <a:fillRect/>
          </a:stretch>
        </p:blipFill>
        <p:spPr>
          <a:xfrm>
            <a:off x="486967" y="840934"/>
            <a:ext cx="10432493" cy="663944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33626" y="340757"/>
            <a:ext cx="6557367" cy="40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Gestion des Processus &amp; Création de Groupes</a:t>
            </a:r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33626" y="797838"/>
            <a:ext cx="4912281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 Modèle Robuste pour la Communication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6031313" y="3913648"/>
            <a:ext cx="1698382" cy="80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Serveur ISY (parent)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6569" y="748308"/>
            <a:ext cx="345621" cy="3456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9284" y="2114834"/>
            <a:ext cx="2975566" cy="402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Groupe ISY A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59284" y="2425810"/>
            <a:ext cx="2975566" cy="917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Processus enfant créé dynamiquement via fork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156091" y="3712496"/>
            <a:ext cx="2975566" cy="402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Groupe ISY B</a:t>
            </a:r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05776" y="4994779"/>
            <a:ext cx="345621" cy="3456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2109" y="5148493"/>
            <a:ext cx="2975566" cy="402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Groupe ISY C</a:t>
            </a:r>
            <a:endParaRPr lang="en-US" dirty="0"/>
          </a:p>
        </p:txBody>
      </p:sp>
      <p:sp>
        <p:nvSpPr>
          <p:cNvPr id="15" name="Shape 9"/>
          <p:cNvSpPr/>
          <p:nvPr/>
        </p:nvSpPr>
        <p:spPr>
          <a:xfrm>
            <a:off x="132080" y="7707248"/>
            <a:ext cx="14390353" cy="406031"/>
          </a:xfrm>
          <a:prstGeom prst="roundRect">
            <a:avLst>
              <a:gd name="adj" fmla="val 25651"/>
            </a:avLst>
          </a:prstGeom>
          <a:solidFill>
            <a:srgbClr val="BEDFF3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451" y="8786455"/>
            <a:ext cx="154781" cy="1238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80284" y="7774325"/>
            <a:ext cx="13763149" cy="528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 assurer une terminaison propre et ordonnée de notre système, nous utilisons des signaux comme </a:t>
            </a:r>
            <a:r>
              <a:rPr lang="en-US" sz="10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SIGINT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gérer la fermeture des processus, évitant ainsi les fuites de ressources et les états incohérents.</a:t>
            </a:r>
            <a:endParaRPr lang="en-US" sz="1050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60464C4-D9F9-2E3B-B8FF-EA6A06A5C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8901" y="702028"/>
            <a:ext cx="4028535" cy="2569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Contexte fonctionnel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Lorsqu’un utilisateur crée un groupe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serveur lance 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processus dédié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ce groupe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Intérêt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Chaque groupe est 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indépendant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 panne ou fermeture d’un groupe n’impacte pas les autres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0903F43-B58B-49FC-A6ED-772D62A5B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2190" y="4966926"/>
            <a:ext cx="4395523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Principe technique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altLang="fr-FR" sz="1600" b="1" dirty="0">
                <a:latin typeface="Arial" panose="020B0604020202020204" pitchFamily="34" charset="0"/>
              </a:rPr>
              <a:t>fork() </a:t>
            </a:r>
            <a:r>
              <a:rPr lang="fr-FR" altLang="fr-FR" sz="1600" dirty="0">
                <a:latin typeface="Arial" panose="020B0604020202020204" pitchFamily="34" charset="0"/>
              </a:rPr>
              <a:t>dans le serveur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altLang="fr-FR" sz="1600" dirty="0">
                <a:latin typeface="Arial" panose="020B0604020202020204" pitchFamily="34" charset="0"/>
              </a:rPr>
              <a:t>Le </a:t>
            </a:r>
            <a:r>
              <a:rPr lang="fr-FR" altLang="fr-FR" sz="1600" b="1" dirty="0">
                <a:latin typeface="Arial" panose="020B0604020202020204" pitchFamily="34" charset="0"/>
              </a:rPr>
              <a:t>processus fils </a:t>
            </a:r>
            <a:r>
              <a:rPr lang="fr-FR" altLang="fr-FR" sz="1600" dirty="0">
                <a:latin typeface="Arial" panose="020B0604020202020204" pitchFamily="34" charset="0"/>
              </a:rPr>
              <a:t>exécute </a:t>
            </a:r>
            <a:r>
              <a:rPr lang="fr-FR" altLang="fr-FR" sz="1600" dirty="0" err="1">
                <a:latin typeface="Arial" panose="020B0604020202020204" pitchFamily="34" charset="0"/>
              </a:rPr>
              <a:t>GroupeISY</a:t>
            </a:r>
            <a:endParaRPr lang="fr-FR" altLang="fr-FR" sz="160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1600" dirty="0">
                <a:latin typeface="Arial" panose="020B0604020202020204" pitchFamily="34" charset="0"/>
              </a:rPr>
              <a:t>Le </a:t>
            </a:r>
            <a:r>
              <a:rPr lang="fr-FR" altLang="fr-FR" sz="1600" b="1" dirty="0">
                <a:latin typeface="Arial" panose="020B0604020202020204" pitchFamily="34" charset="0"/>
              </a:rPr>
              <a:t>processus père </a:t>
            </a:r>
            <a:r>
              <a:rPr lang="fr-FR" altLang="fr-FR" sz="1600" dirty="0">
                <a:latin typeface="Arial" panose="020B0604020202020204" pitchFamily="34" charset="0"/>
              </a:rPr>
              <a:t>conserve :</a:t>
            </a:r>
          </a:p>
          <a:p>
            <a:pPr marL="7429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fr-FR" altLang="fr-FR" sz="1600" dirty="0">
                <a:latin typeface="Arial" panose="020B0604020202020204" pitchFamily="34" charset="0"/>
              </a:rPr>
              <a:t>le PID du groupe</a:t>
            </a:r>
          </a:p>
          <a:p>
            <a:pPr marL="7429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fr-FR" altLang="fr-FR" sz="1600" dirty="0">
                <a:latin typeface="Arial" panose="020B0604020202020204" pitchFamily="34" charset="0"/>
              </a:rPr>
              <a:t>le port associé</a:t>
            </a:r>
          </a:p>
          <a:p>
            <a:pPr marL="7429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fr-FR" altLang="fr-FR" sz="1600" dirty="0">
                <a:latin typeface="Arial" panose="020B0604020202020204" pitchFamily="34" charset="0"/>
              </a:rPr>
              <a:t>le rôle de modérateur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611" y="399098"/>
            <a:ext cx="5228645" cy="476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Diagramme de flux de la messagerie ISY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11" y="1265277"/>
            <a:ext cx="4476869" cy="671523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3891" y="1265277"/>
            <a:ext cx="361831" cy="3618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06578" y="1351121"/>
            <a:ext cx="190452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Authentification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906578" y="1733907"/>
            <a:ext cx="3101935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connexion avec vérification d’unicité du pseudo, le client se connecte, liste les groupes, en crée, en supprime ou en fusionne via le serveur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86549" y="1254919"/>
            <a:ext cx="361831" cy="3618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029236" y="1340763"/>
            <a:ext cx="199108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Commande et réponses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1029236" y="1723549"/>
            <a:ext cx="3102054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groupe traite les commandes (liste, statistiques, modération) et renvoie les réponses au client.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3891" y="3585091"/>
            <a:ext cx="361831" cy="3618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06578" y="3670935"/>
            <a:ext cx="2479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Création/Adhésion de Groupe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6906578" y="4053721"/>
            <a:ext cx="3101935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client demande à rejoindre/Créer un groupe, le serveur répond avec les informations de connexion (port).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86549" y="3585091"/>
            <a:ext cx="361831" cy="36183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029236" y="3670935"/>
            <a:ext cx="196953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Echanges de messages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11029236" y="4053721"/>
            <a:ext cx="3102054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messages et commandes sont envoyés directement du client vers le processus de groupe.</a:t>
            </a:r>
            <a:endParaRPr lang="en-US" sz="14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3891" y="5569387"/>
            <a:ext cx="361831" cy="36183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906578" y="5655231"/>
            <a:ext cx="21634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Fonctionnalités Avancées</a:t>
            </a:r>
            <a:endParaRPr lang="en-US" sz="2000" dirty="0"/>
          </a:p>
        </p:txBody>
      </p:sp>
      <p:sp>
        <p:nvSpPr>
          <p:cNvPr id="18" name="Text 10"/>
          <p:cNvSpPr/>
          <p:nvPr/>
        </p:nvSpPr>
        <p:spPr>
          <a:xfrm>
            <a:off x="6906578" y="6044565"/>
            <a:ext cx="3101935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(fusion, modération), statistiques détaillées et messagerie privée/de groupe.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129" y="0"/>
            <a:ext cx="1066002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626;p40">
            <a:extLst>
              <a:ext uri="{FF2B5EF4-FFF2-40B4-BE49-F238E27FC236}">
                <a16:creationId xmlns:a16="http://schemas.microsoft.com/office/drawing/2014/main" id="{6CAF835A-7E25-7348-3CE0-CCD863C64C8C}"/>
              </a:ext>
            </a:extLst>
          </p:cNvPr>
          <p:cNvSpPr/>
          <p:nvPr/>
        </p:nvSpPr>
        <p:spPr>
          <a:xfrm flipH="1">
            <a:off x="919479" y="4688623"/>
            <a:ext cx="4533231" cy="673871"/>
          </a:xfrm>
          <a:custGeom>
            <a:avLst/>
            <a:gdLst/>
            <a:ahLst/>
            <a:cxnLst/>
            <a:rect l="l" t="t" r="r" b="b"/>
            <a:pathLst>
              <a:path w="66436" h="13225" extrusionOk="0">
                <a:moveTo>
                  <a:pt x="210" y="0"/>
                </a:moveTo>
                <a:cubicBezTo>
                  <a:pt x="123" y="0"/>
                  <a:pt x="54" y="52"/>
                  <a:pt x="19" y="140"/>
                </a:cubicBezTo>
                <a:cubicBezTo>
                  <a:pt x="1" y="210"/>
                  <a:pt x="35" y="296"/>
                  <a:pt x="105" y="331"/>
                </a:cubicBezTo>
                <a:lnTo>
                  <a:pt x="4659" y="3245"/>
                </a:lnTo>
                <a:lnTo>
                  <a:pt x="4659" y="10782"/>
                </a:lnTo>
                <a:cubicBezTo>
                  <a:pt x="4659" y="12125"/>
                  <a:pt x="5758" y="13225"/>
                  <a:pt x="7102" y="13225"/>
                </a:cubicBezTo>
                <a:lnTo>
                  <a:pt x="63993" y="13225"/>
                </a:lnTo>
                <a:cubicBezTo>
                  <a:pt x="65337" y="13225"/>
                  <a:pt x="66436" y="12125"/>
                  <a:pt x="66436" y="10782"/>
                </a:cubicBezTo>
                <a:lnTo>
                  <a:pt x="66436" y="2443"/>
                </a:lnTo>
                <a:cubicBezTo>
                  <a:pt x="66436" y="1099"/>
                  <a:pt x="65337" y="0"/>
                  <a:pt x="639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73" name="Google Shape;626;p40">
            <a:extLst>
              <a:ext uri="{FF2B5EF4-FFF2-40B4-BE49-F238E27FC236}">
                <a16:creationId xmlns:a16="http://schemas.microsoft.com/office/drawing/2014/main" id="{B5B3B910-85E2-0B04-4449-5B9E50998646}"/>
              </a:ext>
            </a:extLst>
          </p:cNvPr>
          <p:cNvSpPr/>
          <p:nvPr/>
        </p:nvSpPr>
        <p:spPr>
          <a:xfrm flipH="1">
            <a:off x="2253481" y="2657792"/>
            <a:ext cx="2856458" cy="1461610"/>
          </a:xfrm>
          <a:custGeom>
            <a:avLst/>
            <a:gdLst/>
            <a:ahLst/>
            <a:cxnLst/>
            <a:rect l="l" t="t" r="r" b="b"/>
            <a:pathLst>
              <a:path w="66436" h="13225" extrusionOk="0">
                <a:moveTo>
                  <a:pt x="210" y="0"/>
                </a:moveTo>
                <a:cubicBezTo>
                  <a:pt x="123" y="0"/>
                  <a:pt x="54" y="52"/>
                  <a:pt x="19" y="140"/>
                </a:cubicBezTo>
                <a:cubicBezTo>
                  <a:pt x="1" y="210"/>
                  <a:pt x="35" y="296"/>
                  <a:pt x="105" y="331"/>
                </a:cubicBezTo>
                <a:lnTo>
                  <a:pt x="4659" y="3245"/>
                </a:lnTo>
                <a:lnTo>
                  <a:pt x="4659" y="10782"/>
                </a:lnTo>
                <a:cubicBezTo>
                  <a:pt x="4659" y="12125"/>
                  <a:pt x="5758" y="13225"/>
                  <a:pt x="7102" y="13225"/>
                </a:cubicBezTo>
                <a:lnTo>
                  <a:pt x="63993" y="13225"/>
                </a:lnTo>
                <a:cubicBezTo>
                  <a:pt x="65337" y="13225"/>
                  <a:pt x="66436" y="12125"/>
                  <a:pt x="66436" y="10782"/>
                </a:cubicBezTo>
                <a:lnTo>
                  <a:pt x="66436" y="2443"/>
                </a:lnTo>
                <a:cubicBezTo>
                  <a:pt x="66436" y="1099"/>
                  <a:pt x="65337" y="0"/>
                  <a:pt x="639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72" name="Google Shape;626;p40">
            <a:extLst>
              <a:ext uri="{FF2B5EF4-FFF2-40B4-BE49-F238E27FC236}">
                <a16:creationId xmlns:a16="http://schemas.microsoft.com/office/drawing/2014/main" id="{0431A6E0-221D-6998-F692-1C936D3070C0}"/>
              </a:ext>
            </a:extLst>
          </p:cNvPr>
          <p:cNvSpPr/>
          <p:nvPr/>
        </p:nvSpPr>
        <p:spPr>
          <a:xfrm flipH="1">
            <a:off x="2390864" y="1377256"/>
            <a:ext cx="2856458" cy="769036"/>
          </a:xfrm>
          <a:custGeom>
            <a:avLst/>
            <a:gdLst/>
            <a:ahLst/>
            <a:cxnLst/>
            <a:rect l="l" t="t" r="r" b="b"/>
            <a:pathLst>
              <a:path w="66436" h="13225" extrusionOk="0">
                <a:moveTo>
                  <a:pt x="210" y="0"/>
                </a:moveTo>
                <a:cubicBezTo>
                  <a:pt x="123" y="0"/>
                  <a:pt x="54" y="52"/>
                  <a:pt x="19" y="140"/>
                </a:cubicBezTo>
                <a:cubicBezTo>
                  <a:pt x="1" y="210"/>
                  <a:pt x="35" y="296"/>
                  <a:pt x="105" y="331"/>
                </a:cubicBezTo>
                <a:lnTo>
                  <a:pt x="4659" y="3245"/>
                </a:lnTo>
                <a:lnTo>
                  <a:pt x="4659" y="10782"/>
                </a:lnTo>
                <a:cubicBezTo>
                  <a:pt x="4659" y="12125"/>
                  <a:pt x="5758" y="13225"/>
                  <a:pt x="7102" y="13225"/>
                </a:cubicBezTo>
                <a:lnTo>
                  <a:pt x="63993" y="13225"/>
                </a:lnTo>
                <a:cubicBezTo>
                  <a:pt x="65337" y="13225"/>
                  <a:pt x="66436" y="12125"/>
                  <a:pt x="66436" y="10782"/>
                </a:cubicBezTo>
                <a:lnTo>
                  <a:pt x="66436" y="2443"/>
                </a:lnTo>
                <a:cubicBezTo>
                  <a:pt x="66436" y="1099"/>
                  <a:pt x="65337" y="0"/>
                  <a:pt x="639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626;p40">
            <a:extLst>
              <a:ext uri="{FF2B5EF4-FFF2-40B4-BE49-F238E27FC236}">
                <a16:creationId xmlns:a16="http://schemas.microsoft.com/office/drawing/2014/main" id="{228518CC-F2F9-C19E-F177-B83D32F45279}"/>
              </a:ext>
            </a:extLst>
          </p:cNvPr>
          <p:cNvSpPr/>
          <p:nvPr/>
        </p:nvSpPr>
        <p:spPr>
          <a:xfrm>
            <a:off x="9208055" y="5766364"/>
            <a:ext cx="2892505" cy="712671"/>
          </a:xfrm>
          <a:custGeom>
            <a:avLst/>
            <a:gdLst/>
            <a:ahLst/>
            <a:cxnLst/>
            <a:rect l="l" t="t" r="r" b="b"/>
            <a:pathLst>
              <a:path w="66436" h="13225" extrusionOk="0">
                <a:moveTo>
                  <a:pt x="210" y="0"/>
                </a:moveTo>
                <a:cubicBezTo>
                  <a:pt x="123" y="0"/>
                  <a:pt x="54" y="52"/>
                  <a:pt x="19" y="140"/>
                </a:cubicBezTo>
                <a:cubicBezTo>
                  <a:pt x="1" y="210"/>
                  <a:pt x="35" y="296"/>
                  <a:pt x="105" y="331"/>
                </a:cubicBezTo>
                <a:lnTo>
                  <a:pt x="4659" y="3245"/>
                </a:lnTo>
                <a:lnTo>
                  <a:pt x="4659" y="10782"/>
                </a:lnTo>
                <a:cubicBezTo>
                  <a:pt x="4659" y="12125"/>
                  <a:pt x="5758" y="13225"/>
                  <a:pt x="7102" y="13225"/>
                </a:cubicBezTo>
                <a:lnTo>
                  <a:pt x="63993" y="13225"/>
                </a:lnTo>
                <a:cubicBezTo>
                  <a:pt x="65337" y="13225"/>
                  <a:pt x="66436" y="12125"/>
                  <a:pt x="66436" y="10782"/>
                </a:cubicBezTo>
                <a:lnTo>
                  <a:pt x="66436" y="2443"/>
                </a:lnTo>
                <a:cubicBezTo>
                  <a:pt x="66436" y="1099"/>
                  <a:pt x="65337" y="0"/>
                  <a:pt x="639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0" name="Google Shape;626;p40">
            <a:extLst>
              <a:ext uri="{FF2B5EF4-FFF2-40B4-BE49-F238E27FC236}">
                <a16:creationId xmlns:a16="http://schemas.microsoft.com/office/drawing/2014/main" id="{96D03A52-7D85-42AF-5E68-8972FA267C56}"/>
              </a:ext>
            </a:extLst>
          </p:cNvPr>
          <p:cNvSpPr/>
          <p:nvPr/>
        </p:nvSpPr>
        <p:spPr>
          <a:xfrm>
            <a:off x="9286717" y="3794710"/>
            <a:ext cx="3362483" cy="1015764"/>
          </a:xfrm>
          <a:custGeom>
            <a:avLst/>
            <a:gdLst/>
            <a:ahLst/>
            <a:cxnLst/>
            <a:rect l="l" t="t" r="r" b="b"/>
            <a:pathLst>
              <a:path w="66436" h="13225" extrusionOk="0">
                <a:moveTo>
                  <a:pt x="210" y="0"/>
                </a:moveTo>
                <a:cubicBezTo>
                  <a:pt x="123" y="0"/>
                  <a:pt x="54" y="52"/>
                  <a:pt x="19" y="140"/>
                </a:cubicBezTo>
                <a:cubicBezTo>
                  <a:pt x="1" y="210"/>
                  <a:pt x="35" y="296"/>
                  <a:pt x="105" y="331"/>
                </a:cubicBezTo>
                <a:lnTo>
                  <a:pt x="4659" y="3245"/>
                </a:lnTo>
                <a:lnTo>
                  <a:pt x="4659" y="10782"/>
                </a:lnTo>
                <a:cubicBezTo>
                  <a:pt x="4659" y="12125"/>
                  <a:pt x="5758" y="13225"/>
                  <a:pt x="7102" y="13225"/>
                </a:cubicBezTo>
                <a:lnTo>
                  <a:pt x="63993" y="13225"/>
                </a:lnTo>
                <a:cubicBezTo>
                  <a:pt x="65337" y="13225"/>
                  <a:pt x="66436" y="12125"/>
                  <a:pt x="66436" y="10782"/>
                </a:cubicBezTo>
                <a:lnTo>
                  <a:pt x="66436" y="2443"/>
                </a:lnTo>
                <a:cubicBezTo>
                  <a:pt x="66436" y="1099"/>
                  <a:pt x="65337" y="0"/>
                  <a:pt x="639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26;p40">
            <a:extLst>
              <a:ext uri="{FF2B5EF4-FFF2-40B4-BE49-F238E27FC236}">
                <a16:creationId xmlns:a16="http://schemas.microsoft.com/office/drawing/2014/main" id="{467F1A98-476F-E1CE-DD48-FE3C0A6FA849}"/>
              </a:ext>
            </a:extLst>
          </p:cNvPr>
          <p:cNvSpPr/>
          <p:nvPr/>
        </p:nvSpPr>
        <p:spPr>
          <a:xfrm>
            <a:off x="9282675" y="1938030"/>
            <a:ext cx="4651396" cy="859312"/>
          </a:xfrm>
          <a:custGeom>
            <a:avLst/>
            <a:gdLst/>
            <a:ahLst/>
            <a:cxnLst/>
            <a:rect l="l" t="t" r="r" b="b"/>
            <a:pathLst>
              <a:path w="66436" h="13225" extrusionOk="0">
                <a:moveTo>
                  <a:pt x="210" y="0"/>
                </a:moveTo>
                <a:cubicBezTo>
                  <a:pt x="123" y="0"/>
                  <a:pt x="54" y="52"/>
                  <a:pt x="19" y="140"/>
                </a:cubicBezTo>
                <a:cubicBezTo>
                  <a:pt x="1" y="210"/>
                  <a:pt x="35" y="296"/>
                  <a:pt x="105" y="331"/>
                </a:cubicBezTo>
                <a:lnTo>
                  <a:pt x="4659" y="3245"/>
                </a:lnTo>
                <a:lnTo>
                  <a:pt x="4659" y="10782"/>
                </a:lnTo>
                <a:cubicBezTo>
                  <a:pt x="4659" y="12125"/>
                  <a:pt x="5758" y="13225"/>
                  <a:pt x="7102" y="13225"/>
                </a:cubicBezTo>
                <a:lnTo>
                  <a:pt x="63993" y="13225"/>
                </a:lnTo>
                <a:cubicBezTo>
                  <a:pt x="65337" y="13225"/>
                  <a:pt x="66436" y="12125"/>
                  <a:pt x="66436" y="10782"/>
                </a:cubicBezTo>
                <a:lnTo>
                  <a:pt x="66436" y="2443"/>
                </a:lnTo>
                <a:cubicBezTo>
                  <a:pt x="66436" y="1099"/>
                  <a:pt x="65337" y="0"/>
                  <a:pt x="639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 0"/>
          <p:cNvSpPr/>
          <p:nvPr/>
        </p:nvSpPr>
        <p:spPr>
          <a:xfrm>
            <a:off x="383381" y="301228"/>
            <a:ext cx="3987165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Roadmap du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projet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307580" y="1179076"/>
            <a:ext cx="15240" cy="5026581"/>
          </a:xfrm>
          <a:prstGeom prst="roundRect">
            <a:avLst>
              <a:gd name="adj" fmla="val 1078230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6878598" y="1294686"/>
            <a:ext cx="328613" cy="15240"/>
          </a:xfrm>
          <a:prstGeom prst="roundRect">
            <a:avLst>
              <a:gd name="adj" fmla="val 1078230"/>
            </a:avLst>
          </a:prstGeom>
          <a:solidFill>
            <a:srgbClr val="BACFDD"/>
          </a:solidFill>
          <a:ln/>
        </p:spPr>
      </p:sp>
      <p:sp>
        <p:nvSpPr>
          <p:cNvPr id="6" name="Shape 4"/>
          <p:cNvSpPr/>
          <p:nvPr/>
        </p:nvSpPr>
        <p:spPr>
          <a:xfrm>
            <a:off x="7191970" y="1179076"/>
            <a:ext cx="246459" cy="246459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8761" y="1194256"/>
            <a:ext cx="17287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26142" y="1216700"/>
            <a:ext cx="1441371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Spécifications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3381" y="1462564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Mi-novembre 2025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1325" y="1468290"/>
            <a:ext cx="2740821" cy="201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 fonctionnelle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511325" y="1681889"/>
            <a:ext cx="2141379" cy="201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 d'utilisation UML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11325" y="1895488"/>
            <a:ext cx="2583339" cy="23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Définition des fonctionnalités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23190" y="1951911"/>
            <a:ext cx="328613" cy="15240"/>
          </a:xfrm>
          <a:prstGeom prst="roundRect">
            <a:avLst>
              <a:gd name="adj" fmla="val 1078230"/>
            </a:avLst>
          </a:prstGeom>
          <a:solidFill>
            <a:srgbClr val="BACFDD"/>
          </a:solidFill>
          <a:ln/>
        </p:spPr>
      </p:sp>
      <p:sp>
        <p:nvSpPr>
          <p:cNvPr id="14" name="Shape 12"/>
          <p:cNvSpPr/>
          <p:nvPr/>
        </p:nvSpPr>
        <p:spPr>
          <a:xfrm>
            <a:off x="7191970" y="1836301"/>
            <a:ext cx="246459" cy="246459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8761" y="1851481"/>
            <a:ext cx="17287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62888" y="1873925"/>
            <a:ext cx="1441371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Conception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62888" y="2119789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 novembre 2025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03297" y="2026673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logicielle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03297" y="2240271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Structures de communication (commun.h, messages)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03297" y="2453870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Protocole UDP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78598" y="2640687"/>
            <a:ext cx="328613" cy="15240"/>
          </a:xfrm>
          <a:prstGeom prst="roundRect">
            <a:avLst>
              <a:gd name="adj" fmla="val 1078230"/>
            </a:avLst>
          </a:prstGeom>
          <a:solidFill>
            <a:srgbClr val="BACFDD"/>
          </a:solidFill>
          <a:ln/>
        </p:spPr>
      </p:sp>
      <p:sp>
        <p:nvSpPr>
          <p:cNvPr id="22" name="Shape 20"/>
          <p:cNvSpPr/>
          <p:nvPr/>
        </p:nvSpPr>
        <p:spPr>
          <a:xfrm>
            <a:off x="7191970" y="2525078"/>
            <a:ext cx="246459" cy="246459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8761" y="2540258"/>
            <a:ext cx="17287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26142" y="2562701"/>
            <a:ext cx="1441371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Développement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3381" y="2808565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Début décembre 2025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98018" y="2751197"/>
            <a:ext cx="3198019" cy="25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Implémentation ServeurISY.c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2398018" y="2964795"/>
            <a:ext cx="3198019" cy="25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Implémentation GroupeISY.c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2398018" y="3178393"/>
            <a:ext cx="3198019" cy="25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Implémentation ClientISY.c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2398018" y="3391991"/>
            <a:ext cx="3198019" cy="25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Implémentation AffichageISY.c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2398018" y="3605589"/>
            <a:ext cx="3198019" cy="25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Intégration Chiffrement César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2398018" y="3819187"/>
            <a:ext cx="3198019" cy="25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Intégration Statistiques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423190" y="3634026"/>
            <a:ext cx="328613" cy="15240"/>
          </a:xfrm>
          <a:prstGeom prst="roundRect">
            <a:avLst>
              <a:gd name="adj" fmla="val 1078230"/>
            </a:avLst>
          </a:prstGeom>
          <a:solidFill>
            <a:srgbClr val="BACFDD"/>
          </a:solidFill>
          <a:ln/>
        </p:spPr>
      </p:sp>
      <p:sp>
        <p:nvSpPr>
          <p:cNvPr id="33" name="Shape 31"/>
          <p:cNvSpPr/>
          <p:nvPr/>
        </p:nvSpPr>
        <p:spPr>
          <a:xfrm>
            <a:off x="7191970" y="3518416"/>
            <a:ext cx="246459" cy="246459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8761" y="3533596"/>
            <a:ext cx="17287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862888" y="3556040"/>
            <a:ext cx="1441371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Intégration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62888" y="3801904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Mi-décembre 2025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829046" y="3873082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Tests comm. serveur↔groupe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9844286" y="4086680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Tests UDP client↔serveur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19194" y="4320656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Tests multi-clients simultanés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9844286" y="4513877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Fusion et modération de groupes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878598" y="4627483"/>
            <a:ext cx="328613" cy="15240"/>
          </a:xfrm>
          <a:prstGeom prst="roundRect">
            <a:avLst>
              <a:gd name="adj" fmla="val 1078230"/>
            </a:avLst>
          </a:prstGeom>
          <a:solidFill>
            <a:srgbClr val="BACFDD"/>
          </a:solidFill>
          <a:ln/>
        </p:spPr>
      </p:sp>
      <p:sp>
        <p:nvSpPr>
          <p:cNvPr id="42" name="Shape 40"/>
          <p:cNvSpPr/>
          <p:nvPr/>
        </p:nvSpPr>
        <p:spPr>
          <a:xfrm>
            <a:off x="7191970" y="4511873"/>
            <a:ext cx="246459" cy="246459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8761" y="4527054"/>
            <a:ext cx="17287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326142" y="4549497"/>
            <a:ext cx="1441371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83381" y="4795361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Mi-décembre 2025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55145" y="4827140"/>
            <a:ext cx="4203859" cy="259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Tests fonctionnels exhaustifs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55145" y="5040738"/>
            <a:ext cx="4203859" cy="259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Tests de robustesse (crashes, entrées invalides, vidéos)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423190" y="5407343"/>
            <a:ext cx="328613" cy="15240"/>
          </a:xfrm>
          <a:prstGeom prst="roundRect">
            <a:avLst>
              <a:gd name="adj" fmla="val 1078230"/>
            </a:avLst>
          </a:prstGeom>
          <a:solidFill>
            <a:srgbClr val="BACF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191970" y="5291733"/>
            <a:ext cx="246459" cy="246459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8761" y="5306913"/>
            <a:ext cx="17287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</a:t>
            </a: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862888" y="5329357"/>
            <a:ext cx="1441371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Soutenance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862888" y="5575221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décembre 2025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544368" y="5923448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Préparation de la démo finale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9544368" y="6137046"/>
            <a:ext cx="638413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Finalisation des livrables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54001" y="6829126"/>
            <a:ext cx="14300200" cy="1302901"/>
          </a:xfrm>
          <a:prstGeom prst="roundRect">
            <a:avLst>
              <a:gd name="adj" fmla="val 12612"/>
            </a:avLst>
          </a:prstGeom>
          <a:solidFill>
            <a:srgbClr val="BEDFF3"/>
          </a:solidFill>
          <a:ln/>
        </p:spPr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8" y="7033197"/>
            <a:ext cx="180142" cy="144066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805617" y="7014504"/>
            <a:ext cx="1510903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Dates Clés du Projet ISY</a:t>
            </a: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805617" y="7304183"/>
            <a:ext cx="13354883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Début du projet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 Mi-novembre 2025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05617" y="7578027"/>
            <a:ext cx="13354883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 du développement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 12 décembre 2025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805617" y="7851871"/>
            <a:ext cx="13354883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Soutenance finale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 18 décembre 2025</a:t>
            </a:r>
            <a:endParaRPr lang="en-US" sz="1100" dirty="0"/>
          </a:p>
        </p:txBody>
      </p:sp>
      <p:sp>
        <p:nvSpPr>
          <p:cNvPr id="62" name="Google Shape;623;p40">
            <a:extLst>
              <a:ext uri="{FF2B5EF4-FFF2-40B4-BE49-F238E27FC236}">
                <a16:creationId xmlns:a16="http://schemas.microsoft.com/office/drawing/2014/main" id="{B7164D8B-AF5F-73A8-7096-33887C414487}"/>
              </a:ext>
            </a:extLst>
          </p:cNvPr>
          <p:cNvSpPr/>
          <p:nvPr/>
        </p:nvSpPr>
        <p:spPr>
          <a:xfrm>
            <a:off x="13934071" y="708599"/>
            <a:ext cx="747000" cy="74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Lexend Deca SemiBold"/>
              <a:ea typeface="Lexend Deca SemiBold"/>
              <a:cs typeface="Lexend Deca SemiBold"/>
              <a:sym typeface="Lexend Deca SemiBold"/>
            </a:endParaRPr>
          </a:p>
        </p:txBody>
      </p:sp>
      <p:grpSp>
        <p:nvGrpSpPr>
          <p:cNvPr id="64" name="Google Shape;652;p40">
            <a:extLst>
              <a:ext uri="{FF2B5EF4-FFF2-40B4-BE49-F238E27FC236}">
                <a16:creationId xmlns:a16="http://schemas.microsoft.com/office/drawing/2014/main" id="{00446DCF-0721-948F-E00A-4662E2DB5228}"/>
              </a:ext>
            </a:extLst>
          </p:cNvPr>
          <p:cNvGrpSpPr/>
          <p:nvPr/>
        </p:nvGrpSpPr>
        <p:grpSpPr>
          <a:xfrm>
            <a:off x="14121591" y="899912"/>
            <a:ext cx="371957" cy="364666"/>
            <a:chOff x="2071738" y="3529950"/>
            <a:chExt cx="401725" cy="393850"/>
          </a:xfrm>
        </p:grpSpPr>
        <p:sp>
          <p:nvSpPr>
            <p:cNvPr id="65" name="Google Shape;653;p40">
              <a:extLst>
                <a:ext uri="{FF2B5EF4-FFF2-40B4-BE49-F238E27FC236}">
                  <a16:creationId xmlns:a16="http://schemas.microsoft.com/office/drawing/2014/main" id="{D9040011-7093-D705-CAC0-3EF65D50C6D5}"/>
                </a:ext>
              </a:extLst>
            </p:cNvPr>
            <p:cNvSpPr/>
            <p:nvPr/>
          </p:nvSpPr>
          <p:spPr>
            <a:xfrm>
              <a:off x="2169438" y="3529950"/>
              <a:ext cx="304025" cy="230750"/>
            </a:xfrm>
            <a:custGeom>
              <a:avLst/>
              <a:gdLst/>
              <a:ahLst/>
              <a:cxnLst/>
              <a:rect l="l" t="t" r="r" b="b"/>
              <a:pathLst>
                <a:path w="12161" h="9230" extrusionOk="0">
                  <a:moveTo>
                    <a:pt x="7817" y="1885"/>
                  </a:moveTo>
                  <a:cubicBezTo>
                    <a:pt x="8061" y="1885"/>
                    <a:pt x="8270" y="2076"/>
                    <a:pt x="8270" y="2339"/>
                  </a:cubicBezTo>
                  <a:cubicBezTo>
                    <a:pt x="8270" y="2600"/>
                    <a:pt x="8061" y="2792"/>
                    <a:pt x="7817" y="2792"/>
                  </a:cubicBezTo>
                  <a:lnTo>
                    <a:pt x="2269" y="2792"/>
                  </a:lnTo>
                  <a:cubicBezTo>
                    <a:pt x="2024" y="2792"/>
                    <a:pt x="1815" y="2600"/>
                    <a:pt x="1815" y="2339"/>
                  </a:cubicBezTo>
                  <a:cubicBezTo>
                    <a:pt x="1815" y="2076"/>
                    <a:pt x="2024" y="1885"/>
                    <a:pt x="2269" y="1885"/>
                  </a:cubicBezTo>
                  <a:close/>
                  <a:moveTo>
                    <a:pt x="7817" y="3716"/>
                  </a:moveTo>
                  <a:cubicBezTo>
                    <a:pt x="8061" y="3716"/>
                    <a:pt x="8270" y="3925"/>
                    <a:pt x="8270" y="4188"/>
                  </a:cubicBezTo>
                  <a:cubicBezTo>
                    <a:pt x="8270" y="4432"/>
                    <a:pt x="8061" y="4641"/>
                    <a:pt x="7817" y="4641"/>
                  </a:cubicBezTo>
                  <a:lnTo>
                    <a:pt x="2269" y="4641"/>
                  </a:lnTo>
                  <a:cubicBezTo>
                    <a:pt x="2024" y="4641"/>
                    <a:pt x="1815" y="4432"/>
                    <a:pt x="1815" y="4188"/>
                  </a:cubicBezTo>
                  <a:cubicBezTo>
                    <a:pt x="1815" y="3925"/>
                    <a:pt x="2024" y="3716"/>
                    <a:pt x="2269" y="3716"/>
                  </a:cubicBezTo>
                  <a:close/>
                  <a:moveTo>
                    <a:pt x="454" y="1"/>
                  </a:moveTo>
                  <a:cubicBezTo>
                    <a:pt x="210" y="1"/>
                    <a:pt x="1" y="210"/>
                    <a:pt x="1" y="454"/>
                  </a:cubicBezTo>
                  <a:lnTo>
                    <a:pt x="1" y="5600"/>
                  </a:lnTo>
                  <a:lnTo>
                    <a:pt x="7798" y="5600"/>
                  </a:lnTo>
                  <a:cubicBezTo>
                    <a:pt x="8566" y="5600"/>
                    <a:pt x="9177" y="6228"/>
                    <a:pt x="9177" y="6979"/>
                  </a:cubicBezTo>
                  <a:lnTo>
                    <a:pt x="9177" y="9229"/>
                  </a:lnTo>
                  <a:lnTo>
                    <a:pt x="11532" y="9229"/>
                  </a:lnTo>
                  <a:cubicBezTo>
                    <a:pt x="11951" y="9229"/>
                    <a:pt x="12160" y="8724"/>
                    <a:pt x="11864" y="8445"/>
                  </a:cubicBezTo>
                  <a:lnTo>
                    <a:pt x="10120" y="6735"/>
                  </a:lnTo>
                  <a:lnTo>
                    <a:pt x="10120" y="454"/>
                  </a:lnTo>
                  <a:cubicBezTo>
                    <a:pt x="10120" y="210"/>
                    <a:pt x="9910" y="1"/>
                    <a:pt x="9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54;p40">
              <a:extLst>
                <a:ext uri="{FF2B5EF4-FFF2-40B4-BE49-F238E27FC236}">
                  <a16:creationId xmlns:a16="http://schemas.microsoft.com/office/drawing/2014/main" id="{06E37E58-BB0A-5046-9A06-F2AE9CEE7E43}"/>
                </a:ext>
              </a:extLst>
            </p:cNvPr>
            <p:cNvSpPr/>
            <p:nvPr/>
          </p:nvSpPr>
          <p:spPr>
            <a:xfrm>
              <a:off x="2277613" y="3751525"/>
              <a:ext cx="22250" cy="22250"/>
            </a:xfrm>
            <a:custGeom>
              <a:avLst/>
              <a:gdLst/>
              <a:ahLst/>
              <a:cxnLst/>
              <a:rect l="l" t="t" r="r" b="b"/>
              <a:pathLst>
                <a:path w="890" h="890" extrusionOk="0">
                  <a:moveTo>
                    <a:pt x="436" y="0"/>
                  </a:moveTo>
                  <a:cubicBezTo>
                    <a:pt x="192" y="0"/>
                    <a:pt x="0" y="192"/>
                    <a:pt x="0" y="436"/>
                  </a:cubicBezTo>
                  <a:cubicBezTo>
                    <a:pt x="0" y="680"/>
                    <a:pt x="192" y="890"/>
                    <a:pt x="436" y="890"/>
                  </a:cubicBezTo>
                  <a:cubicBezTo>
                    <a:pt x="680" y="890"/>
                    <a:pt x="889" y="680"/>
                    <a:pt x="889" y="436"/>
                  </a:cubicBezTo>
                  <a:cubicBezTo>
                    <a:pt x="889" y="192"/>
                    <a:pt x="680" y="0"/>
                    <a:pt x="4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55;p40">
              <a:extLst>
                <a:ext uri="{FF2B5EF4-FFF2-40B4-BE49-F238E27FC236}">
                  <a16:creationId xmlns:a16="http://schemas.microsoft.com/office/drawing/2014/main" id="{D891C663-E0E9-DA28-62CC-9CC260FB323F}"/>
                </a:ext>
              </a:extLst>
            </p:cNvPr>
            <p:cNvSpPr/>
            <p:nvPr/>
          </p:nvSpPr>
          <p:spPr>
            <a:xfrm>
              <a:off x="2277613" y="3843125"/>
              <a:ext cx="22250" cy="22700"/>
            </a:xfrm>
            <a:custGeom>
              <a:avLst/>
              <a:gdLst/>
              <a:ahLst/>
              <a:cxnLst/>
              <a:rect l="l" t="t" r="r" b="b"/>
              <a:pathLst>
                <a:path w="890" h="908" extrusionOk="0">
                  <a:moveTo>
                    <a:pt x="436" y="0"/>
                  </a:moveTo>
                  <a:cubicBezTo>
                    <a:pt x="192" y="0"/>
                    <a:pt x="0" y="210"/>
                    <a:pt x="0" y="454"/>
                  </a:cubicBezTo>
                  <a:cubicBezTo>
                    <a:pt x="0" y="698"/>
                    <a:pt x="192" y="907"/>
                    <a:pt x="436" y="907"/>
                  </a:cubicBezTo>
                  <a:cubicBezTo>
                    <a:pt x="680" y="907"/>
                    <a:pt x="889" y="698"/>
                    <a:pt x="889" y="454"/>
                  </a:cubicBezTo>
                  <a:cubicBezTo>
                    <a:pt x="889" y="210"/>
                    <a:pt x="680" y="0"/>
                    <a:pt x="4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56;p40">
              <a:extLst>
                <a:ext uri="{FF2B5EF4-FFF2-40B4-BE49-F238E27FC236}">
                  <a16:creationId xmlns:a16="http://schemas.microsoft.com/office/drawing/2014/main" id="{D04E4C81-30D0-7A4A-E73F-883FA643E04C}"/>
                </a:ext>
              </a:extLst>
            </p:cNvPr>
            <p:cNvSpPr/>
            <p:nvPr/>
          </p:nvSpPr>
          <p:spPr>
            <a:xfrm>
              <a:off x="2196913" y="3797300"/>
              <a:ext cx="22275" cy="22300"/>
            </a:xfrm>
            <a:custGeom>
              <a:avLst/>
              <a:gdLst/>
              <a:ahLst/>
              <a:cxnLst/>
              <a:rect l="l" t="t" r="r" b="b"/>
              <a:pathLst>
                <a:path w="891" h="892" extrusionOk="0">
                  <a:moveTo>
                    <a:pt x="454" y="1"/>
                  </a:moveTo>
                  <a:cubicBezTo>
                    <a:pt x="209" y="1"/>
                    <a:pt x="0" y="193"/>
                    <a:pt x="0" y="437"/>
                  </a:cubicBezTo>
                  <a:cubicBezTo>
                    <a:pt x="0" y="682"/>
                    <a:pt x="209" y="891"/>
                    <a:pt x="454" y="891"/>
                  </a:cubicBezTo>
                  <a:cubicBezTo>
                    <a:pt x="698" y="891"/>
                    <a:pt x="891" y="682"/>
                    <a:pt x="891" y="437"/>
                  </a:cubicBezTo>
                  <a:cubicBezTo>
                    <a:pt x="891" y="193"/>
                    <a:pt x="698" y="1"/>
                    <a:pt x="4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57;p40">
              <a:extLst>
                <a:ext uri="{FF2B5EF4-FFF2-40B4-BE49-F238E27FC236}">
                  <a16:creationId xmlns:a16="http://schemas.microsoft.com/office/drawing/2014/main" id="{BBD36A8E-54DA-1F8C-990C-D9DE90DE58AE}"/>
                </a:ext>
              </a:extLst>
            </p:cNvPr>
            <p:cNvSpPr/>
            <p:nvPr/>
          </p:nvSpPr>
          <p:spPr>
            <a:xfrm>
              <a:off x="2071738" y="3693075"/>
              <a:ext cx="304025" cy="230725"/>
            </a:xfrm>
            <a:custGeom>
              <a:avLst/>
              <a:gdLst/>
              <a:ahLst/>
              <a:cxnLst/>
              <a:rect l="l" t="t" r="r" b="b"/>
              <a:pathLst>
                <a:path w="12161" h="9229" extrusionOk="0">
                  <a:moveTo>
                    <a:pt x="8654" y="1413"/>
                  </a:moveTo>
                  <a:cubicBezTo>
                    <a:pt x="9422" y="1413"/>
                    <a:pt x="10032" y="2024"/>
                    <a:pt x="10032" y="2774"/>
                  </a:cubicBezTo>
                  <a:cubicBezTo>
                    <a:pt x="10032" y="3593"/>
                    <a:pt x="9356" y="4147"/>
                    <a:pt x="8645" y="4147"/>
                  </a:cubicBezTo>
                  <a:cubicBezTo>
                    <a:pt x="8341" y="4147"/>
                    <a:pt x="8030" y="4046"/>
                    <a:pt x="7764" y="3821"/>
                  </a:cubicBezTo>
                  <a:lnTo>
                    <a:pt x="6787" y="4379"/>
                  </a:lnTo>
                  <a:cubicBezTo>
                    <a:pt x="6822" y="4537"/>
                    <a:pt x="6822" y="4693"/>
                    <a:pt x="6787" y="4851"/>
                  </a:cubicBezTo>
                  <a:lnTo>
                    <a:pt x="7764" y="5409"/>
                  </a:lnTo>
                  <a:cubicBezTo>
                    <a:pt x="8030" y="5184"/>
                    <a:pt x="8341" y="5083"/>
                    <a:pt x="8645" y="5083"/>
                  </a:cubicBezTo>
                  <a:cubicBezTo>
                    <a:pt x="9356" y="5083"/>
                    <a:pt x="10032" y="5636"/>
                    <a:pt x="10032" y="6456"/>
                  </a:cubicBezTo>
                  <a:cubicBezTo>
                    <a:pt x="10032" y="7205"/>
                    <a:pt x="9422" y="7817"/>
                    <a:pt x="8654" y="7817"/>
                  </a:cubicBezTo>
                  <a:cubicBezTo>
                    <a:pt x="7817" y="7817"/>
                    <a:pt x="7154" y="7066"/>
                    <a:pt x="7310" y="6212"/>
                  </a:cubicBezTo>
                  <a:lnTo>
                    <a:pt x="6333" y="5653"/>
                  </a:lnTo>
                  <a:cubicBezTo>
                    <a:pt x="6067" y="5878"/>
                    <a:pt x="5757" y="5978"/>
                    <a:pt x="5453" y="5978"/>
                  </a:cubicBezTo>
                  <a:cubicBezTo>
                    <a:pt x="4742" y="5978"/>
                    <a:pt x="4065" y="5425"/>
                    <a:pt x="4065" y="4606"/>
                  </a:cubicBezTo>
                  <a:cubicBezTo>
                    <a:pt x="4065" y="3791"/>
                    <a:pt x="4735" y="3239"/>
                    <a:pt x="5442" y="3239"/>
                  </a:cubicBezTo>
                  <a:cubicBezTo>
                    <a:pt x="5749" y="3239"/>
                    <a:pt x="6064" y="3344"/>
                    <a:pt x="6333" y="3576"/>
                  </a:cubicBezTo>
                  <a:lnTo>
                    <a:pt x="7310" y="3018"/>
                  </a:lnTo>
                  <a:cubicBezTo>
                    <a:pt x="7170" y="2164"/>
                    <a:pt x="7817" y="1413"/>
                    <a:pt x="8654" y="1413"/>
                  </a:cubicBezTo>
                  <a:close/>
                  <a:moveTo>
                    <a:pt x="2478" y="1"/>
                  </a:moveTo>
                  <a:cubicBezTo>
                    <a:pt x="2234" y="1"/>
                    <a:pt x="2025" y="210"/>
                    <a:pt x="2025" y="454"/>
                  </a:cubicBezTo>
                  <a:lnTo>
                    <a:pt x="2025" y="6735"/>
                  </a:lnTo>
                  <a:lnTo>
                    <a:pt x="280" y="8445"/>
                  </a:lnTo>
                  <a:cubicBezTo>
                    <a:pt x="1" y="8724"/>
                    <a:pt x="192" y="9229"/>
                    <a:pt x="611" y="9229"/>
                  </a:cubicBezTo>
                  <a:lnTo>
                    <a:pt x="11690" y="9229"/>
                  </a:lnTo>
                  <a:cubicBezTo>
                    <a:pt x="11951" y="9229"/>
                    <a:pt x="12160" y="9020"/>
                    <a:pt x="12160" y="8775"/>
                  </a:cubicBezTo>
                  <a:lnTo>
                    <a:pt x="12160" y="454"/>
                  </a:lnTo>
                  <a:cubicBezTo>
                    <a:pt x="12160" y="210"/>
                    <a:pt x="11951" y="1"/>
                    <a:pt x="116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39">
            <a:extLst>
              <a:ext uri="{FF2B5EF4-FFF2-40B4-BE49-F238E27FC236}">
                <a16:creationId xmlns:a16="http://schemas.microsoft.com/office/drawing/2014/main" id="{A999A238-B373-1297-5F40-C8EE36835ECF}"/>
              </a:ext>
            </a:extLst>
          </p:cNvPr>
          <p:cNvSpPr/>
          <p:nvPr/>
        </p:nvSpPr>
        <p:spPr>
          <a:xfrm>
            <a:off x="2552941" y="5585205"/>
            <a:ext cx="4285031" cy="493335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61" name="Shape 39">
            <a:extLst>
              <a:ext uri="{FF2B5EF4-FFF2-40B4-BE49-F238E27FC236}">
                <a16:creationId xmlns:a16="http://schemas.microsoft.com/office/drawing/2014/main" id="{AC51907E-EE81-F6CE-D125-5CDC39F6E36B}"/>
              </a:ext>
            </a:extLst>
          </p:cNvPr>
          <p:cNvSpPr/>
          <p:nvPr/>
        </p:nvSpPr>
        <p:spPr>
          <a:xfrm>
            <a:off x="7786509" y="4962189"/>
            <a:ext cx="3848170" cy="493335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60" name="Shape 39">
            <a:extLst>
              <a:ext uri="{FF2B5EF4-FFF2-40B4-BE49-F238E27FC236}">
                <a16:creationId xmlns:a16="http://schemas.microsoft.com/office/drawing/2014/main" id="{BA462150-2171-97A3-63E2-2752FF68C848}"/>
              </a:ext>
            </a:extLst>
          </p:cNvPr>
          <p:cNvSpPr/>
          <p:nvPr/>
        </p:nvSpPr>
        <p:spPr>
          <a:xfrm>
            <a:off x="2841586" y="4381292"/>
            <a:ext cx="4002306" cy="493335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59" name="Shape 39">
            <a:extLst>
              <a:ext uri="{FF2B5EF4-FFF2-40B4-BE49-F238E27FC236}">
                <a16:creationId xmlns:a16="http://schemas.microsoft.com/office/drawing/2014/main" id="{7288377D-D5C9-75C6-5C17-DD6D2C9C6886}"/>
              </a:ext>
            </a:extLst>
          </p:cNvPr>
          <p:cNvSpPr/>
          <p:nvPr/>
        </p:nvSpPr>
        <p:spPr>
          <a:xfrm>
            <a:off x="7786509" y="3737615"/>
            <a:ext cx="4810991" cy="493335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58" name="Shape 39">
            <a:extLst>
              <a:ext uri="{FF2B5EF4-FFF2-40B4-BE49-F238E27FC236}">
                <a16:creationId xmlns:a16="http://schemas.microsoft.com/office/drawing/2014/main" id="{F3B21BED-13A6-7527-5FB2-6AA9D833C832}"/>
              </a:ext>
            </a:extLst>
          </p:cNvPr>
          <p:cNvSpPr/>
          <p:nvPr/>
        </p:nvSpPr>
        <p:spPr>
          <a:xfrm>
            <a:off x="2775803" y="3112831"/>
            <a:ext cx="4074637" cy="493335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57" name="Shape 39">
            <a:extLst>
              <a:ext uri="{FF2B5EF4-FFF2-40B4-BE49-F238E27FC236}">
                <a16:creationId xmlns:a16="http://schemas.microsoft.com/office/drawing/2014/main" id="{7866737F-1486-DB64-C025-ADA9F9DA88AE}"/>
              </a:ext>
            </a:extLst>
          </p:cNvPr>
          <p:cNvSpPr/>
          <p:nvPr/>
        </p:nvSpPr>
        <p:spPr>
          <a:xfrm>
            <a:off x="7786509" y="2535534"/>
            <a:ext cx="3934980" cy="493335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56" name="Shape 39">
            <a:extLst>
              <a:ext uri="{FF2B5EF4-FFF2-40B4-BE49-F238E27FC236}">
                <a16:creationId xmlns:a16="http://schemas.microsoft.com/office/drawing/2014/main" id="{A837F42E-82E5-2B6B-2276-6EB6D2D5AB0E}"/>
              </a:ext>
            </a:extLst>
          </p:cNvPr>
          <p:cNvSpPr/>
          <p:nvPr/>
        </p:nvSpPr>
        <p:spPr>
          <a:xfrm>
            <a:off x="2314937" y="1837891"/>
            <a:ext cx="4535503" cy="493335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2" name="Text 0"/>
          <p:cNvSpPr/>
          <p:nvPr/>
        </p:nvSpPr>
        <p:spPr>
          <a:xfrm>
            <a:off x="412790" y="324326"/>
            <a:ext cx="3104436" cy="387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Organisation du Projet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307580" y="1532615"/>
            <a:ext cx="15240" cy="4742259"/>
          </a:xfrm>
          <a:prstGeom prst="roundRect">
            <a:avLst>
              <a:gd name="adj" fmla="val 1161120"/>
            </a:avLst>
          </a:prstGeom>
          <a:solidFill>
            <a:srgbClr val="BACFDD"/>
          </a:solidFill>
          <a:ln/>
        </p:spPr>
      </p:sp>
      <p:sp>
        <p:nvSpPr>
          <p:cNvPr id="4" name="Shape 2"/>
          <p:cNvSpPr/>
          <p:nvPr/>
        </p:nvSpPr>
        <p:spPr>
          <a:xfrm>
            <a:off x="6843891" y="1657630"/>
            <a:ext cx="353854" cy="15240"/>
          </a:xfrm>
          <a:prstGeom prst="roundRect">
            <a:avLst>
              <a:gd name="adj" fmla="val 1161120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7182505" y="1532615"/>
            <a:ext cx="265390" cy="265390"/>
          </a:xfrm>
          <a:prstGeom prst="roundRect">
            <a:avLst>
              <a:gd name="adj" fmla="val 6667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4574" y="1573096"/>
            <a:ext cx="1862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173147" y="1573096"/>
            <a:ext cx="155221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Fondations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2790" y="1837891"/>
            <a:ext cx="6312575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Mise en place de l'environnement, structures de base.</a:t>
            </a:r>
            <a:endParaRPr lang="en-US" sz="1200" b="1" dirty="0"/>
          </a:p>
        </p:txBody>
      </p:sp>
      <p:sp>
        <p:nvSpPr>
          <p:cNvPr id="9" name="Shape 7"/>
          <p:cNvSpPr/>
          <p:nvPr/>
        </p:nvSpPr>
        <p:spPr>
          <a:xfrm>
            <a:off x="7432655" y="2365338"/>
            <a:ext cx="353854" cy="15240"/>
          </a:xfrm>
          <a:prstGeom prst="roundRect">
            <a:avLst>
              <a:gd name="adj" fmla="val 1161120"/>
            </a:avLst>
          </a:prstGeom>
          <a:solidFill>
            <a:srgbClr val="BACFDD"/>
          </a:solidFill>
          <a:ln/>
        </p:spPr>
      </p:sp>
      <p:sp>
        <p:nvSpPr>
          <p:cNvPr id="10" name="Shape 8"/>
          <p:cNvSpPr/>
          <p:nvPr/>
        </p:nvSpPr>
        <p:spPr>
          <a:xfrm>
            <a:off x="7182505" y="2240322"/>
            <a:ext cx="265390" cy="265390"/>
          </a:xfrm>
          <a:prstGeom prst="roundRect">
            <a:avLst>
              <a:gd name="adj" fmla="val 6667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4574" y="2281130"/>
            <a:ext cx="1862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05036" y="2280803"/>
            <a:ext cx="155221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Communication UDP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697" y="2554171"/>
            <a:ext cx="6312575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Développement des échanges réseau fiables.</a:t>
            </a:r>
            <a:endParaRPr lang="en-US" sz="1200" b="1" dirty="0"/>
          </a:p>
        </p:txBody>
      </p:sp>
      <p:sp>
        <p:nvSpPr>
          <p:cNvPr id="14" name="Shape 12"/>
          <p:cNvSpPr/>
          <p:nvPr/>
        </p:nvSpPr>
        <p:spPr>
          <a:xfrm>
            <a:off x="6843891" y="2975295"/>
            <a:ext cx="353854" cy="15240"/>
          </a:xfrm>
          <a:prstGeom prst="roundRect">
            <a:avLst>
              <a:gd name="adj" fmla="val 1161120"/>
            </a:avLst>
          </a:prstGeom>
          <a:solidFill>
            <a:srgbClr val="BACFDD"/>
          </a:solidFill>
          <a:ln/>
        </p:spPr>
      </p:sp>
      <p:sp>
        <p:nvSpPr>
          <p:cNvPr id="15" name="Shape 13"/>
          <p:cNvSpPr/>
          <p:nvPr/>
        </p:nvSpPr>
        <p:spPr>
          <a:xfrm>
            <a:off x="7182505" y="2850279"/>
            <a:ext cx="265390" cy="265390"/>
          </a:xfrm>
          <a:prstGeom prst="roundRect">
            <a:avLst>
              <a:gd name="adj" fmla="val 6667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2034" y="2866531"/>
            <a:ext cx="1862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73147" y="2890761"/>
            <a:ext cx="155221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Gestion des Groupes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12790" y="3155556"/>
            <a:ext cx="6312575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Création, listing, adhésion et départ des groupes.</a:t>
            </a:r>
            <a:endParaRPr lang="en-US" sz="1200" b="1" dirty="0"/>
          </a:p>
        </p:txBody>
      </p:sp>
      <p:sp>
        <p:nvSpPr>
          <p:cNvPr id="19" name="Shape 17"/>
          <p:cNvSpPr/>
          <p:nvPr/>
        </p:nvSpPr>
        <p:spPr>
          <a:xfrm>
            <a:off x="7432655" y="3585371"/>
            <a:ext cx="353854" cy="15240"/>
          </a:xfrm>
          <a:prstGeom prst="roundRect">
            <a:avLst>
              <a:gd name="adj" fmla="val 1161120"/>
            </a:avLst>
          </a:prstGeom>
          <a:solidFill>
            <a:srgbClr val="BACFDD"/>
          </a:solidFill>
          <a:ln/>
        </p:spPr>
      </p:sp>
      <p:sp>
        <p:nvSpPr>
          <p:cNvPr id="20" name="Shape 18"/>
          <p:cNvSpPr/>
          <p:nvPr/>
        </p:nvSpPr>
        <p:spPr>
          <a:xfrm>
            <a:off x="7182505" y="3460356"/>
            <a:ext cx="265390" cy="265390"/>
          </a:xfrm>
          <a:prstGeom prst="roundRect">
            <a:avLst>
              <a:gd name="adj" fmla="val 6667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2034" y="3476608"/>
            <a:ext cx="1862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05036" y="3500837"/>
            <a:ext cx="155221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Messagerie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905036" y="3765632"/>
            <a:ext cx="6312575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Implémentation de l'envoi et de la réception de messages.</a:t>
            </a:r>
            <a:endParaRPr lang="en-US" sz="1200" b="1" dirty="0"/>
          </a:p>
        </p:txBody>
      </p:sp>
      <p:sp>
        <p:nvSpPr>
          <p:cNvPr id="24" name="Shape 22"/>
          <p:cNvSpPr/>
          <p:nvPr/>
        </p:nvSpPr>
        <p:spPr>
          <a:xfrm>
            <a:off x="6843891" y="4195448"/>
            <a:ext cx="353854" cy="15240"/>
          </a:xfrm>
          <a:prstGeom prst="roundRect">
            <a:avLst>
              <a:gd name="adj" fmla="val 1161120"/>
            </a:avLst>
          </a:prstGeom>
          <a:solidFill>
            <a:srgbClr val="BACFDD"/>
          </a:solidFill>
          <a:ln/>
        </p:spPr>
      </p:sp>
      <p:sp>
        <p:nvSpPr>
          <p:cNvPr id="25" name="Shape 23"/>
          <p:cNvSpPr/>
          <p:nvPr/>
        </p:nvSpPr>
        <p:spPr>
          <a:xfrm>
            <a:off x="7182505" y="4070432"/>
            <a:ext cx="265390" cy="265390"/>
          </a:xfrm>
          <a:prstGeom prst="roundRect">
            <a:avLst>
              <a:gd name="adj" fmla="val 6667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2034" y="4086684"/>
            <a:ext cx="1862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73147" y="4110913"/>
            <a:ext cx="155221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Chiffrement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12790" y="4375708"/>
            <a:ext cx="6312575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Intégration de la sécurité des communications.</a:t>
            </a:r>
            <a:endParaRPr lang="en-US" sz="1200" b="1" dirty="0"/>
          </a:p>
        </p:txBody>
      </p:sp>
      <p:sp>
        <p:nvSpPr>
          <p:cNvPr id="29" name="Shape 27"/>
          <p:cNvSpPr/>
          <p:nvPr/>
        </p:nvSpPr>
        <p:spPr>
          <a:xfrm>
            <a:off x="7432655" y="4805524"/>
            <a:ext cx="353854" cy="15240"/>
          </a:xfrm>
          <a:prstGeom prst="roundRect">
            <a:avLst>
              <a:gd name="adj" fmla="val 1161120"/>
            </a:avLst>
          </a:prstGeom>
          <a:solidFill>
            <a:srgbClr val="BACFDD"/>
          </a:solidFill>
          <a:ln/>
        </p:spPr>
      </p:sp>
      <p:sp>
        <p:nvSpPr>
          <p:cNvPr id="30" name="Shape 28"/>
          <p:cNvSpPr/>
          <p:nvPr/>
        </p:nvSpPr>
        <p:spPr>
          <a:xfrm>
            <a:off x="7182505" y="4680508"/>
            <a:ext cx="265390" cy="265390"/>
          </a:xfrm>
          <a:prstGeom prst="roundRect">
            <a:avLst>
              <a:gd name="adj" fmla="val 6667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2034" y="4696760"/>
            <a:ext cx="1862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905036" y="4720989"/>
            <a:ext cx="155221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Fusion de Groupes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905036" y="4985784"/>
            <a:ext cx="6312575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Développement de la fonctionnalité avancée.</a:t>
            </a:r>
            <a:endParaRPr lang="en-US" sz="1200" b="1" dirty="0"/>
          </a:p>
        </p:txBody>
      </p:sp>
      <p:sp>
        <p:nvSpPr>
          <p:cNvPr id="34" name="Shape 32"/>
          <p:cNvSpPr/>
          <p:nvPr/>
        </p:nvSpPr>
        <p:spPr>
          <a:xfrm>
            <a:off x="6843891" y="5415600"/>
            <a:ext cx="353854" cy="15240"/>
          </a:xfrm>
          <a:prstGeom prst="roundRect">
            <a:avLst>
              <a:gd name="adj" fmla="val 1161120"/>
            </a:avLst>
          </a:prstGeom>
          <a:solidFill>
            <a:srgbClr val="BACF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182505" y="5290584"/>
            <a:ext cx="265390" cy="265390"/>
          </a:xfrm>
          <a:prstGeom prst="roundRect">
            <a:avLst>
              <a:gd name="adj" fmla="val 6667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2034" y="5306836"/>
            <a:ext cx="1862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01922" y="5331066"/>
            <a:ext cx="1823442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Statistiques &amp; Robustesse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12790" y="5595861"/>
            <a:ext cx="6312575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Ajout des compteurs et amélioration de la stabilité.</a:t>
            </a:r>
            <a:endParaRPr lang="en-US" sz="1200" b="1" dirty="0"/>
          </a:p>
        </p:txBody>
      </p:sp>
      <p:sp>
        <p:nvSpPr>
          <p:cNvPr id="39" name="Text 37"/>
          <p:cNvSpPr/>
          <p:nvPr/>
        </p:nvSpPr>
        <p:spPr>
          <a:xfrm>
            <a:off x="292301" y="6565378"/>
            <a:ext cx="2260640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Arborescence des Dossiers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1" y="6891813"/>
            <a:ext cx="14630400" cy="1309211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42" name="Text 40"/>
          <p:cNvSpPr/>
          <p:nvPr/>
        </p:nvSpPr>
        <p:spPr>
          <a:xfrm>
            <a:off x="292301" y="6917829"/>
            <a:ext cx="13580745" cy="1132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          (Code source)
├── include/      (Fichiers d'en-tête)
├── bin/          (Exécutables)
├── data/         (Fichiers de données)
└── tests/        (Tests unitaires et d'intégration)
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53753"/>
            <a:ext cx="684716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 et Perspectives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599730"/>
            <a:ext cx="131137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Accomplissements Clés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 Nous avons réussi à livrer une messagerie en ligne de commande entièrement fonctionnelle, respectant toutes les contraintes initiales et enrichie par des fonctionnalités supplémentaires telles que les statistiques.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715583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Défis Relevés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 Les complexités de la communication inter-processus et la gestion de la concurrence ont été des défis stimulants, surmontés grâce à une conception attentive et une implémentation robuste.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48472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Perspectives d'Amélioration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90716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Développer une Interface Utilisateur Graphique (GUI) pour une meilleure accessibilité.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329595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Intégrer des algorithmes de chiffrement plus robustes pour une sécurité renforcée.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309" y="575202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Mettre en place un système d'intégration continue (CI/CD) pour optimiser le déploiement et la qualité du code.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309" y="6342459"/>
            <a:ext cx="1311378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Nous remercions chaleureusement le public pour son attention.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1285</Words>
  <Application>Microsoft Office PowerPoint</Application>
  <PresentationFormat>Personnalisé</PresentationFormat>
  <Paragraphs>205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2" baseType="lpstr">
      <vt:lpstr>Consolas</vt:lpstr>
      <vt:lpstr>Lexend Deca SemiBold</vt:lpstr>
      <vt:lpstr>Barlow Bold</vt:lpstr>
      <vt:lpstr>Montserrat</vt:lpstr>
      <vt:lpstr>Montserrat Bold</vt:lpstr>
      <vt:lpstr>Arial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nicolas.prudhomme26@gmail.com</cp:lastModifiedBy>
  <cp:revision>9</cp:revision>
  <dcterms:created xsi:type="dcterms:W3CDTF">2025-12-14T19:44:47Z</dcterms:created>
  <dcterms:modified xsi:type="dcterms:W3CDTF">2025-12-14T21:21:11Z</dcterms:modified>
</cp:coreProperties>
</file>